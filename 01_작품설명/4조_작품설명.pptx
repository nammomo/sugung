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bc24016-711d-2779-3ce3-9c64f4887ca0}">
          <p14:sldIdLst>
            <p14:sldId id="256"/>
          </p14:sldIdLst>
        </p14:section>
        <p14:section name="1. 작품 소개" id="{83a02198-445f-57b3-a9eb-8bd3a247935f}">
          <p14:sldIdLst>
            <p14:sldId id="257"/>
          </p14:sldIdLst>
        </p14:section>
        <p14:section name="2. 기획의도" id="{656497b7-30d5-aa32-a8ff-825d45e6d8cd}">
          <p14:sldIdLst>
            <p14:sldId id="258"/>
            <p14:sldId id="259"/>
          </p14:sldIdLst>
        </p14:section>
        <p14:section name="3. 참여 방법" id="{9f3108aa-185a-c0dd-f3b6-36aa1958c448}">
          <p14:sldIdLst>
            <p14:sldId id="260"/>
            <p14:sldId id="261"/>
            <p14:sldId id="262"/>
          </p14:sldIdLst>
        </p14:section>
        <p14:section name="4. 동시 체험" id="{c5b1bbdc-5d3d-fb19-e342-da568ccd6a40}">
          <p14:sldIdLst>
            <p14:sldId id="263"/>
          </p14:sldIdLst>
        </p14:section>
        <p14:section name="5. 설치·장비" id="{b57a81b2-06a4-dced-a31e-29f45cbcc0d7}">
          <p14:sldIdLst>
            <p14:sldId id="264"/>
          </p14:sldIdLst>
        </p14:section>
        <p14:section name="6. 진행 상황" id="{953e15cc-b405-237f-50e3-6c6a640e3ff6}">
          <p14:sldIdLst>
            <p14:sldId id="265"/>
          </p14:sldIdLst>
        </p14:section>
        <p14:section name="7. 코딩 파일" id="{905264ef-24da-d4b2-57d7-a2a6f8ef690c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4조 방 B 작품 청사초롱, 꿈을 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구성과 역할, 제출 담당자.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000" dirty="0">
                <a:solidFill>
                  <a:srgbClr val="AEB4CF"/>
                </a:solidFill>
              </a:rPr>
              <a:t>수궁야행 4조 · 청사초롱, 꿈을 담다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sugung-roomb.pages.dev/?id=0417" TargetMode="External"/><Relationship Id="rId2" Type="http://schemas.openxmlformats.org/officeDocument/2006/relationships/hyperlink" Target="https://sugung-roomb.pages.dev/display" TargetMode="External"/><Relationship Id="rId3" Type="http://schemas.openxmlformats.org/officeDocument/2006/relationships/hyperlink" Target="https://sugung-roomb-demo.pages.dev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submit-shots/lantern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502920"/>
            <a:ext cx="2743200" cy="58155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35240" y="365760"/>
            <a:ext cx="201168" cy="0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35240" y="365760"/>
            <a:ext cx="0" cy="201168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10543032" y="365760"/>
            <a:ext cx="201168" cy="0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44200" y="365760"/>
            <a:ext cx="0" cy="201168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6455664"/>
            <a:ext cx="201168" cy="0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35240" y="6254496"/>
            <a:ext cx="0" cy="201168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10543032" y="6455664"/>
            <a:ext cx="201168" cy="0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44200" y="6254496"/>
            <a:ext cx="0" cy="201168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600" b="1" spc="300" kern="0" dirty="0">
                <a:solidFill>
                  <a:srgbClr val="B8975A"/>
                </a:solidFill>
              </a:rPr>
              <a:t>수궁야행 · 4조 · 방 B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19202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E8C98A"/>
                </a:solidFill>
              </a:rPr>
              <a:t>청사초롱,</a:t>
            </a:r>
            <a:endParaRPr lang="en-US" sz="5400" dirty="0"/>
          </a:p>
          <a:p>
            <a:pPr eaLnBrk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E8C98A"/>
                </a:solidFill>
              </a:rPr>
              <a:t>꿈을 담다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690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3E6CC"/>
                </a:solidFill>
              </a:rPr>
              <a:t>무겁게 매달린 것들을 하나씩 내려놓고,</a:t>
            </a:r>
            <a:endParaRPr lang="en-US" sz="170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3E6CC"/>
                </a:solidFill>
              </a:rPr>
              <a:t>남은 하나를 초롱에 실어 띄우는 휴대폰 체험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dirty="0">
                <a:solidFill>
                  <a:srgbClr val="AEB4CF"/>
                </a:solidFill>
              </a:rPr>
              <a:t>박서영 · 이연우 · 배준섭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486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AEB4CF"/>
                </a:solidFill>
              </a:rPr>
              <a:t>작품 설명 · 2026. 10. 20.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01 · 작품 소개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작품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B8975A"/>
                </a:solidFill>
              </a:rPr>
              <a:t>팀 번호 / 작품명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311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3E6CC"/>
                </a:solidFill>
              </a:rPr>
              <a:t>4조 / 청사초롱, 꿈을 담다 (방 B)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B8975A"/>
                </a:solidFill>
              </a:rPr>
              <a:t>참여 학생과 역할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19856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3E6CC"/>
                </a:solidFill>
              </a:rPr>
              <a:t>박서영 · 메인 프론트엔드 디자이너</a:t>
            </a:r>
            <a:endParaRPr lang="en-US" sz="1600" dirty="0"/>
          </a:p>
          <a:p>
            <a:pPr eaLnBrk="0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3E6CC"/>
                </a:solidFill>
              </a:rPr>
              <a:t>이연우 · 현장 운영 시험, 서브 디자이너</a:t>
            </a:r>
            <a:endParaRPr lang="en-US" sz="1600" dirty="0"/>
          </a:p>
          <a:p>
            <a:pPr eaLnBrk="0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3E6CC"/>
                </a:solidFill>
              </a:rPr>
              <a:t>배준섭 · 기획, 스토리 (CDDQ 연결)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B8975A"/>
                </a:solidFill>
              </a:rPr>
              <a:t>제출 담당자 / 연락 방법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2943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3E6CC"/>
                </a:solidFill>
              </a:rPr>
              <a:t>박서영 / 010-9705-1779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33695" cy="4434840"/>
          </a:xfrm>
          <a:prstGeom prst="roundRect">
            <a:avLst>
              <a:gd name="adj" fmla="val 2474"/>
            </a:avLst>
          </a:prstGeom>
          <a:solidFill>
            <a:srgbClr val="1F2A4D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691640"/>
            <a:ext cx="201168" cy="0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691640"/>
            <a:ext cx="0" cy="201168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1441887" y="1691640"/>
            <a:ext cx="201168" cy="0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43055" y="1691640"/>
            <a:ext cx="0" cy="201168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6126480"/>
            <a:ext cx="201168" cy="0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5925312"/>
            <a:ext cx="0" cy="201168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1441887" y="6126480"/>
            <a:ext cx="201168" cy="0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643055" y="5925312"/>
            <a:ext cx="0" cy="201168"/>
          </a:xfrm>
          <a:prstGeom prst="line">
            <a:avLst/>
          </a:prstGeom>
          <a:noFill/>
          <a:ln w="15875">
            <a:solidFill>
              <a:srgbClr val="E8C9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b="1" dirty="0">
                <a:solidFill>
                  <a:srgbClr val="B8975A"/>
                </a:solidFill>
              </a:rPr>
              <a:t>한 문장 소개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4688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방 A에서 담아 온 일상 돌보기 꼬리표 중</a:t>
            </a:r>
            <a:endParaRPr lang="en-US" sz="18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덜 중요한 것부터 하나씩 떼어 내고,</a:t>
            </a:r>
            <a:endParaRPr lang="en-US" sz="18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마지막 하나를 초롱에 실어</a:t>
            </a:r>
            <a:endParaRPr lang="en-US" sz="18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큰 화면의 밤하늘로 띄우며</a:t>
            </a:r>
            <a:endParaRPr lang="en-US" sz="18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‘고르는 데에도 순서가 있다’는 것을</a:t>
            </a:r>
            <a:endParaRPr lang="en-US" sz="180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몸으로 겪는 작품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5120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AEB4CF"/>
                </a:solidFill>
              </a:rPr>
              <a:t>관람객 휴대폰 · 빔 화면 · 직원 화면,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dirty="0">
                <a:solidFill>
                  <a:srgbClr val="AEB4CF"/>
                </a:solidFill>
              </a:rPr>
              <a:t>세 화면으로 이루어진 웹 작품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02 · 기획의도 · CDDQ 4조 범주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의사결정 과정에 대한 지식 부족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i="1" dirty="0">
                <a:solidFill>
                  <a:srgbClr val="AEB4CF"/>
                </a:solidFill>
              </a:rPr>
              <a:t>Lack of Knowledge about the Process / Steps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일상 속 모습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14949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해야 할 것도 하고 싶은 것도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많은데, 무엇부터 정해야 할지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몰라 결국 아무것도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고르지 못한다.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기운이 없을 때는 양치나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산책 같은 작은 일 하나도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정하기 어렵다.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38218" y="192024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21488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떠올렸으면 하는 생각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651760"/>
            <a:ext cx="314949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“결정에도 순서가 있구나.”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한꺼번에 고르지 않아도 된다.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펼쳐 보고, 덜 중요한 것부터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내려놓다 보면 남는 하나가 있다.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그 하나를 이번 주의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아주 작은 행동으로 옮겨 본다.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27797" y="192024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2117" y="21488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별주부전·수궁과 잇기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2651760"/>
            <a:ext cx="314949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별주부전의 토끼가 간을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“육지에 두고 왔다”고 하듯,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뗀 꼬리표는 버리는 게 아니라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“바닷속에 잠시 맡겨 둔 것”이다.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수궁의 토끼가 길을 안내하고,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가벼워진 초롱은 바다를 떠나</a:t>
            </a:r>
            <a:endParaRPr lang="en-US" sz="1450" dirty="0"/>
          </a:p>
          <a:p>
            <a:pPr eaLnBrk="0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3E6CC"/>
                </a:solidFill>
              </a:rPr>
              <a:t>하늘로 오른다.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692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dirty="0">
                <a:solidFill>
                  <a:srgbClr val="AEB4CF"/>
                </a:solidFill>
              </a:rPr>
              <a:t>CDDQ는 진로의사결정의 어려움을 분류하는 틀이며, 이 작품은 검증된 검사나 치료가 아니고 고민을 반드시 해결한다고 말하지 않습니다.</a:t>
            </a:r>
            <a:endParaRPr lang="en-US" sz="1100" dirty="0"/>
          </a:p>
          <a:p>
            <a:pPr eaLnBrk="0" indent="0" marL="0">
              <a:buNone/>
            </a:pPr>
            <a:r>
              <a:rPr lang="en-US" sz="1100" dirty="0">
                <a:solidFill>
                  <a:srgbClr val="AEB4CF"/>
                </a:solidFill>
              </a:rPr>
              <a:t>출처: Gati, Krausz, &amp; Osipow (1996). doi.org/10.1037/0022-0167.43.4.510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02 · 기획의도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결정의 단계를 체험의 단계로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E8C98A"/>
          </a:solidFill>
          <a:ln w="12700">
            <a:solidFill>
              <a:srgbClr val="E8C9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rgbClr val="0E1530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펼쳐 보기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202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방 A에서 담아 온 것들이</a:t>
            </a:r>
            <a:endParaRPr lang="en-US" sz="13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꼬리표(최대 9개)로</a:t>
            </a:r>
            <a:endParaRPr lang="en-US" sz="13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초롱에 매달려 있다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i="1" dirty="0">
                <a:solidFill>
                  <a:srgbClr val="E7A6C8"/>
                </a:solidFill>
              </a:rPr>
              <a:t>선택지를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i="1" dirty="0">
                <a:solidFill>
                  <a:srgbClr val="E7A6C8"/>
                </a:solidFill>
              </a:rPr>
              <a:t>한눈에 늘어놓기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16504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800" dirty="0">
                <a:solidFill>
                  <a:srgbClr val="B8975A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390824" y="178308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5144" y="2057400"/>
            <a:ext cx="566928" cy="566928"/>
          </a:xfrm>
          <a:prstGeom prst="ellipse">
            <a:avLst/>
          </a:prstGeom>
          <a:solidFill>
            <a:srgbClr val="E8C98A"/>
          </a:solidFill>
          <a:ln w="12700">
            <a:solidFill>
              <a:srgbClr val="E8C9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6514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rgbClr val="0E1530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65144" y="278892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덜 중요한 것부터</a:t>
            </a:r>
            <a:endParaRPr lang="en-US" sz="1800" dirty="0"/>
          </a:p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내려놓기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65144" y="3566160"/>
            <a:ext cx="2202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하나씩 눌러 떼면</a:t>
            </a:r>
            <a:endParaRPr lang="en-US" sz="13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별가루로 바닷속에 잠긴다.</a:t>
            </a:r>
            <a:endParaRPr lang="en-US" sz="13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되돌리기도 할 수 있다.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65144" y="49834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i="1" dirty="0">
                <a:solidFill>
                  <a:srgbClr val="E7A6C8"/>
                </a:solidFill>
              </a:rPr>
              <a:t>줄여 나가는 기준을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i="1" dirty="0">
                <a:solidFill>
                  <a:srgbClr val="E7A6C8"/>
                </a:solidFill>
              </a:rPr>
              <a:t>스스로 세우기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58688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800" dirty="0">
                <a:solidFill>
                  <a:srgbClr val="B8975A"/>
                </a:solidFill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233008" y="178308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07328" y="2057400"/>
            <a:ext cx="566928" cy="566928"/>
          </a:xfrm>
          <a:prstGeom prst="ellipse">
            <a:avLst/>
          </a:prstGeom>
          <a:solidFill>
            <a:srgbClr val="E8C98A"/>
          </a:solidFill>
          <a:ln w="12700">
            <a:solidFill>
              <a:srgbClr val="E8C9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732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rgbClr val="0E1530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07328" y="278892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하나 고르기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07328" y="3566160"/>
            <a:ext cx="2202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마지막 하나가 남으면</a:t>
            </a:r>
            <a:endParaRPr lang="en-US" sz="13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‘이걸로 정할게요’를</a:t>
            </a:r>
            <a:endParaRPr lang="en-US" sz="13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누른다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07328" y="49834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i="1" dirty="0">
                <a:solidFill>
                  <a:srgbClr val="E7A6C8"/>
                </a:solidFill>
              </a:rPr>
              <a:t>정답 대신 지금의 나에게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i="1" dirty="0">
                <a:solidFill>
                  <a:srgbClr val="E7A6C8"/>
                </a:solidFill>
              </a:rPr>
              <a:t>맞는 선택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800871" y="3383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800" dirty="0">
                <a:solidFill>
                  <a:srgbClr val="B8975A"/>
                </a:solidFill>
              </a:rPr>
              <a:t>›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075191" y="178308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49511" y="2057400"/>
            <a:ext cx="566928" cy="566928"/>
          </a:xfrm>
          <a:prstGeom prst="ellipse">
            <a:avLst/>
          </a:prstGeom>
          <a:solidFill>
            <a:srgbClr val="E8C98A"/>
          </a:solidFill>
          <a:ln w="12700">
            <a:solidFill>
              <a:srgbClr val="E8C9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49511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rgbClr val="0E1530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349511" y="278892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작게 실행하기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349511" y="3566160"/>
            <a:ext cx="2202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‘이번 주에 해볼 일’</a:t>
            </a:r>
            <a:endParaRPr lang="en-US" sz="13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한 가지를 받고</a:t>
            </a:r>
            <a:endParaRPr lang="en-US" sz="13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초롱을 하늘로 날린다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349511" y="49834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300" i="1" dirty="0">
                <a:solidFill>
                  <a:srgbClr val="E7A6C8"/>
                </a:solidFill>
              </a:rPr>
              <a:t>결정을 아주 작은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i="1" dirty="0">
                <a:solidFill>
                  <a:srgbClr val="E7A6C8"/>
                </a:solidFill>
              </a:rPr>
              <a:t>행동으로 옮기기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AEB4CF"/>
                </a:solidFill>
              </a:rPr>
              <a:t>토끼 대사   “어느 걸 뗄지는 내가 정해 줄 수 없어. 천천히 골라도 돼.”   “망설이는 것도 고르는 과정이야.”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03 · 첫 장면에서 의미까지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관람객의 참여 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932688"/>
          </a:xfrm>
          <a:prstGeom prst="roundRect">
            <a:avLst>
              <a:gd name="adj" fmla="val 11765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188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첫 장면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69164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방 A 출구에서 받은 A4의 QR을 휴대폰으로 찍으면</a:t>
            </a:r>
            <a:endParaRPr lang="en-US" sz="13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표지가 열리고 한옥 대문을 지나 수궁으로 들어간다.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6903720" cy="932688"/>
          </a:xfrm>
          <a:prstGeom prst="roundRect">
            <a:avLst>
              <a:gd name="adj" fmla="val 11765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70632"/>
            <a:ext cx="1188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행동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770632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초롱 색을 고른 뒤, 덜 중요한 꼬리표부터 눌러 뗀다.</a:t>
            </a:r>
            <a:endParaRPr lang="en-US" sz="13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토끼 말풍선이 단계마다 할 일을 알려 준다.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6903720" cy="932688"/>
          </a:xfrm>
          <a:prstGeom prst="roundRect">
            <a:avLst>
              <a:gd name="adj" fmla="val 11765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49624"/>
            <a:ext cx="1188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반응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849624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뗀 꼬리표는 별가루로 잠기고 토끼가 한마디를 건넨다.</a:t>
            </a:r>
            <a:endParaRPr lang="en-US" sz="13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위로 쓸어 올리면 진동과 함께 초롱이 떠올라</a:t>
            </a:r>
            <a:endParaRPr lang="en-US" sz="13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1.5초 안에 빔 화면 밤바다 위에 나타난다.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6903720" cy="932688"/>
          </a:xfrm>
          <a:prstGeom prst="roundRect">
            <a:avLst>
              <a:gd name="adj" fmla="val 11765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928616"/>
            <a:ext cx="1188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의미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4928616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한꺼번에 고르지 못하던 마음이 하나씩 내려놓는</a:t>
            </a:r>
            <a:endParaRPr lang="en-US" sz="13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순서를 따라 마지막 하나에 닿는다.</a:t>
            </a:r>
            <a:endParaRPr lang="en-US" sz="135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3E6CC"/>
                </a:solidFill>
              </a:rPr>
              <a:t>큰 화면에서 모두의 초롱 사이로 내 초롱을 찾는다.</a:t>
            </a:r>
            <a:endParaRPr lang="en-US" sz="1350" dirty="0"/>
          </a:p>
        </p:txBody>
      </p:sp>
      <p:pic>
        <p:nvPicPr>
          <p:cNvPr id="16" name="Image 0" descr="/tmp/claude-0/submit-shots/1_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91640"/>
            <a:ext cx="1828800" cy="3957711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18120" y="572250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dirty="0">
                <a:solidFill>
                  <a:srgbClr val="AEB4CF"/>
                </a:solidFill>
              </a:rPr>
              <a:t>표지</a:t>
            </a:r>
            <a:endParaRPr lang="en-US" sz="1100" dirty="0"/>
          </a:p>
        </p:txBody>
      </p:sp>
      <p:pic>
        <p:nvPicPr>
          <p:cNvPr id="18" name="Image 1" descr="/tmp/claude-0/submit-shots/3_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691640"/>
            <a:ext cx="1828800" cy="395771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829800" y="572250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dirty="0">
                <a:solidFill>
                  <a:srgbClr val="AEB4CF"/>
                </a:solidFill>
              </a:rPr>
              <a:t>꼬리표 떼기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03 · 관람객 휴대폰 화면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휴대폰 체험의 흐름</a:t>
            </a:r>
            <a:endParaRPr lang="en-US" sz="3200" dirty="0"/>
          </a:p>
        </p:txBody>
      </p:sp>
      <p:pic>
        <p:nvPicPr>
          <p:cNvPr id="4" name="Image 0" descr="/tmp/claude-0/submit-shots/1_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783080" cy="3858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50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rgbClr val="E8C98A"/>
                </a:solidFill>
              </a:rPr>
              <a:t>표지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8430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F3E6CC"/>
                </a:solidFill>
              </a:rPr>
              <a:t>방 A QR로 입장</a:t>
            </a:r>
            <a:endParaRPr lang="en-US" sz="1200" dirty="0"/>
          </a:p>
        </p:txBody>
      </p:sp>
      <p:pic>
        <p:nvPicPr>
          <p:cNvPr id="7" name="Image 1" descr="/tmp/claude-0/submit-shots/2_pic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418" y="1600200"/>
            <a:ext cx="1783080" cy="38587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52418" y="5550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rgbClr val="E8C98A"/>
                </a:solidFill>
              </a:rPr>
              <a:t>초롱 색 고르기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652418" y="58430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F3E6CC"/>
                </a:solidFill>
              </a:rPr>
              <a:t>위·아래 10가지 빛깔</a:t>
            </a:r>
            <a:endParaRPr lang="en-US" sz="1200" dirty="0"/>
          </a:p>
          <a:p>
            <a:pPr eaLnBrk="0" indent="0" marL="0">
              <a:buNone/>
            </a:pPr>
            <a:r>
              <a:rPr lang="en-US" sz="1200" dirty="0">
                <a:solidFill>
                  <a:srgbClr val="F3E6CC"/>
                </a:solidFill>
              </a:rPr>
              <a:t>좌우로 밀어 돌려 보기</a:t>
            </a:r>
            <a:endParaRPr lang="en-US" sz="1200" dirty="0"/>
          </a:p>
        </p:txBody>
      </p:sp>
      <p:pic>
        <p:nvPicPr>
          <p:cNvPr id="10" name="Image 2" descr="/tmp/claude-0/submit-shots/3_ta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197" y="1600200"/>
            <a:ext cx="1783080" cy="38587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56197" y="5550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rgbClr val="E8C98A"/>
                </a:solidFill>
              </a:rPr>
              <a:t>꼬리표 떼기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756197" y="58430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F3E6CC"/>
                </a:solidFill>
              </a:rPr>
              <a:t>덜 중요한 것부터 하나씩</a:t>
            </a:r>
            <a:endParaRPr lang="en-US" sz="1200" dirty="0"/>
          </a:p>
        </p:txBody>
      </p:sp>
      <p:pic>
        <p:nvPicPr>
          <p:cNvPr id="13" name="Image 3" descr="/tmp/claude-0/submit-shots/4_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1600200"/>
            <a:ext cx="1783080" cy="38587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859975" y="5550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rgbClr val="E8C98A"/>
                </a:solidFill>
              </a:rPr>
              <a:t>마무리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859975" y="584301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F3E6CC"/>
                </a:solidFill>
              </a:rPr>
              <a:t>남긴 것 · 이번 주에 해볼 일</a:t>
            </a:r>
            <a:endParaRPr lang="en-US" sz="1200" dirty="0"/>
          </a:p>
          <a:p>
            <a:pPr eaLnBrk="0" indent="0" marL="0">
              <a:buNone/>
            </a:pPr>
            <a:r>
              <a:rPr lang="en-US" sz="1200" dirty="0">
                <a:solidFill>
                  <a:srgbClr val="F3E6CC"/>
                </a:solidFill>
              </a:rPr>
              <a:t>위로 밀어 초롱 날리기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03 · 공통 화면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빔 화면: 모두의 초롱이 떠오르는 밤바다</a:t>
            </a:r>
            <a:endParaRPr lang="en-US" sz="3200" dirty="0"/>
          </a:p>
        </p:txBody>
      </p:sp>
      <p:pic>
        <p:nvPicPr>
          <p:cNvPr id="4" name="Image 0" descr="/tmp/claude-0/submit-shots/6_display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572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600200"/>
            <a:ext cx="6156655" cy="4572000"/>
          </a:xfrm>
          <a:prstGeom prst="roundRect">
            <a:avLst>
              <a:gd name="adj" fmla="val 2400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06440" y="1874520"/>
            <a:ext cx="551657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3E6CC"/>
                </a:solidFill>
              </a:rPr>
              <a:t>날린 초롱이 남긴 꼬리표 하나와 함께 떠오른다</a:t>
            </a:r>
            <a:endParaRPr lang="en-US" sz="1600" dirty="0"/>
          </a:p>
          <a:p>
            <a:pPr eaLnBrk="0" marL="203200" indent="-203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3E6CC"/>
                </a:solidFill>
              </a:rPr>
              <a:t>하단에 “○○의 청사초롱이 떠올랐어요”가 9초간 나온다</a:t>
            </a:r>
            <a:endParaRPr lang="en-US" sz="1600" dirty="0"/>
          </a:p>
          <a:p>
            <a:pPr eaLnBrk="0" marL="203200" indent="-203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3E6CC"/>
                </a:solidFill>
              </a:rPr>
              <a:t>가까이 떠 있는 초롱은 7개 (2·3·2 벌집 배치)</a:t>
            </a:r>
            <a:endParaRPr lang="en-US" sz="1600" dirty="0"/>
          </a:p>
          <a:p>
            <a:pPr eaLnBrk="0" marL="203200" indent="-203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3E6CC"/>
                </a:solidFill>
              </a:rPr>
              <a:t>넘치면 오래된 초롱부터 먼 하늘로 물러나 흐릿한 불빛이 된다</a:t>
            </a:r>
            <a:endParaRPr lang="en-US" sz="1600" dirty="0"/>
          </a:p>
          <a:p>
            <a:pPr eaLnBrk="0" marL="203200" indent="-203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3E6CC"/>
                </a:solidFill>
              </a:rPr>
              <a:t>아무도 없을 때도 물결·유성·토끼가 계속 움직인다</a:t>
            </a:r>
            <a:endParaRPr lang="en-US" sz="1600" dirty="0"/>
          </a:p>
          <a:p>
            <a:pPr eaLnBrk="0" marL="203200" indent="-203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3E6CC"/>
                </a:solidFill>
              </a:rPr>
              <a:t>어떤 화면비에서도 가운데 정사각형, 한국어·영어 함께 표시</a:t>
            </a:r>
            <a:endParaRPr lang="en-US" sz="1600" dirty="0"/>
          </a:p>
          <a:p>
            <a:pPr eaLnBrk="0" marL="203200" indent="-2032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3E6CC"/>
                </a:solidFill>
              </a:rPr>
              <a:t>공개 정보는 닉네임(없으면 참여 번호)과 꼬리표 하나뿐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04 · 동시 참여 · 중간 입장 · 초기화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여러 사람이 동시에 체험할 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10048" cy="914400"/>
          </a:xfrm>
          <a:prstGeom prst="roundRect">
            <a:avLst>
              <a:gd name="adj" fmla="val 12000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새로 온 사람은?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645920"/>
            <a:ext cx="3261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각자 휴대폰으로 QR을 찍으면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앞사람과 상관없이 처음부터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1645920"/>
            <a:ext cx="5410048" cy="914400"/>
          </a:xfrm>
          <a:prstGeom prst="roundRect">
            <a:avLst>
              <a:gd name="adj" fmla="val 12000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45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반복 장면은?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98968" y="1645920"/>
            <a:ext cx="3261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빔 화면의 밤바다·유성·토끼와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떠 있는 초롱들이 계속 움직임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5410048" cy="914400"/>
          </a:xfrm>
          <a:prstGeom prst="roundRect">
            <a:avLst>
              <a:gd name="adj" fmla="val 12000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1576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동시에 날리면?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2715768"/>
            <a:ext cx="3261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서로 다른 칸에 떠오르고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하단 안내가 차례로 바뀜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3008" y="2715768"/>
            <a:ext cx="5410048" cy="914400"/>
          </a:xfrm>
          <a:prstGeom prst="roundRect">
            <a:avLst>
              <a:gd name="adj" fmla="val 12000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608" y="2715768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개인 기록 구분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98968" y="2715768"/>
            <a:ext cx="3261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참여 번호별로 저장, 공통 화면엔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닉네임과 꼬리표 하나만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5410048" cy="914400"/>
          </a:xfrm>
          <a:prstGeom prst="roundRect">
            <a:avLst>
              <a:gd name="adj" fmla="val 12000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785616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다른 방 없이도?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3785616"/>
            <a:ext cx="3261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시험용 번호(0417)나 현장 태블릿,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샘플 꼬리표 9개로 체험 가능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3785616"/>
            <a:ext cx="5410048" cy="914400"/>
          </a:xfrm>
          <a:prstGeom prst="roundRect">
            <a:avLst>
              <a:gd name="adj" fmla="val 12000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1608" y="3785616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입력 없음·실패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98968" y="3785616"/>
            <a:ext cx="3261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번호가 없거나 틀리면 입력 칸,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망설이면 토끼가 다음 행동 안내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55464"/>
            <a:ext cx="5410048" cy="914400"/>
          </a:xfrm>
          <a:prstGeom prst="roundRect">
            <a:avLst>
              <a:gd name="adj" fmla="val 12000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8554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종료 후 초기화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4855464"/>
            <a:ext cx="3261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개인 휴대폰은 필요 없음, 태블릿은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끝나고 60초·무조작 180초 뒤 자동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33008" y="4855464"/>
            <a:ext cx="5410048" cy="914400"/>
          </a:xfrm>
          <a:prstGeom prst="roundRect">
            <a:avLst>
              <a:gd name="adj" fmla="val 12000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61608" y="485546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수동 재시작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198968" y="4855464"/>
            <a:ext cx="3261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태블릿 ‘다음 사람 시작하기’,</a:t>
            </a:r>
            <a:endParaRPr lang="en-US" sz="1300" dirty="0"/>
          </a:p>
          <a:p>
            <a:pPr eaLnBrk="0" indent="0" marL="0">
              <a:buNone/>
            </a:pPr>
            <a:r>
              <a:rPr lang="en-US" sz="1300" dirty="0">
                <a:solidFill>
                  <a:srgbClr val="F3E6CC"/>
                </a:solidFill>
              </a:rPr>
              <a:t>빔 화면은 새로고침(F5)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AEB4CF"/>
                </a:solidFill>
              </a:rPr>
              <a:t>인원 제한 없음(각자 휴대폰). 빔 화면은 2.5초 간격 연속 입력까지 확인, 여러 휴대폰 동시 시험은 아직 미시험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05 · 필요한 것과 대체 방안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설치·장비 요청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530352"/>
          </a:xfrm>
          <a:prstGeom prst="rect">
            <a:avLst/>
          </a:prstGeom>
          <a:solidFill>
            <a:srgbClr val="18213F"/>
          </a:solidFill>
          <a:ln w="12700">
            <a:solidFill>
              <a:srgbClr val="1821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빔 화면 PC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45920"/>
            <a:ext cx="8351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F3E6CC"/>
                </a:solidFill>
              </a:rPr>
              <a:t>PC 1대 (Windows·macOS 무관), 최신 Chrome 또는 Edge 전체 화면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11094415" cy="530352"/>
          </a:xfrm>
          <a:prstGeom prst="rect">
            <a:avLst/>
          </a:prstGeom>
          <a:solidFill>
            <a:srgbClr val="0E1530"/>
          </a:solidFill>
          <a:ln w="12700">
            <a:solidFill>
              <a:srgbClr val="0E15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94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화면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249424"/>
            <a:ext cx="8351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F3E6CC"/>
                </a:solidFill>
              </a:rPr>
              <a:t>빔프로젝터 또는 디스플레이 1대 · 정사각형 영역 최소 1080×1080 · 나머지는 검게 출력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11094415" cy="530352"/>
          </a:xfrm>
          <a:prstGeom prst="rect">
            <a:avLst/>
          </a:prstGeom>
          <a:solidFill>
            <a:srgbClr val="18213F"/>
          </a:solidFill>
          <a:ln w="12700">
            <a:solidFill>
              <a:srgbClr val="1821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529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관람객 기기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852928"/>
            <a:ext cx="8351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F3E6CC"/>
                </a:solidFill>
              </a:rPr>
              <a:t>관람객 본인 휴대폰 (세로). 휴대폰이 없는 관람객용 현장 태블릿 1~2대 있으면 좋음 (미정)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56432"/>
            <a:ext cx="11094415" cy="530352"/>
          </a:xfrm>
          <a:prstGeom prst="rect">
            <a:avLst/>
          </a:prstGeom>
          <a:solidFill>
            <a:srgbClr val="0E1530"/>
          </a:solidFill>
          <a:ln w="12700">
            <a:solidFill>
              <a:srgbClr val="0E1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45643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센서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456432"/>
            <a:ext cx="8351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F3E6CC"/>
                </a:solidFill>
              </a:rPr>
              <a:t>키넥트·센서 미사용. 터치와 진동만 사용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11094415" cy="530352"/>
          </a:xfrm>
          <a:prstGeom prst="rect">
            <a:avLst/>
          </a:prstGeom>
          <a:solidFill>
            <a:srgbClr val="18213F"/>
          </a:solidFill>
          <a:ln w="12700">
            <a:solidFill>
              <a:srgbClr val="1821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5993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인터넷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059936"/>
            <a:ext cx="8351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F3E6CC"/>
                </a:solidFill>
              </a:rPr>
              <a:t>필수 · 현장 와이파이 또는 관람객 데이터. 끊겨도 체험은 이어지고 연결되면 기록 재전송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94415" cy="530352"/>
          </a:xfrm>
          <a:prstGeom prst="rect">
            <a:avLst/>
          </a:prstGeom>
          <a:solidFill>
            <a:srgbClr val="0E1530"/>
          </a:solidFill>
          <a:ln w="12700">
            <a:solidFill>
              <a:srgbClr val="0E15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6634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음향 · 전원 · 차광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4663440"/>
            <a:ext cx="8351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F3E6CC"/>
                </a:solidFill>
              </a:rPr>
              <a:t>음향 없음 · 빔·PC 전원 · 빔 화면이 잘 보이도록 차광 권장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266944"/>
            <a:ext cx="11094415" cy="530352"/>
          </a:xfrm>
          <a:prstGeom prst="rect">
            <a:avLst/>
          </a:prstGeom>
          <a:solidFill>
            <a:srgbClr val="18213F"/>
          </a:solidFill>
          <a:ln w="12700">
            <a:solidFill>
              <a:srgbClr val="1821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2669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b="1" dirty="0">
                <a:solidFill>
                  <a:srgbClr val="E8C98A"/>
                </a:solidFill>
              </a:rPr>
              <a:t>동선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063240" y="5266944"/>
            <a:ext cx="8351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F3E6CC"/>
                </a:solidFill>
              </a:rPr>
              <a:t>방 A 출구 QR 안내, 휴대폰을 보며 걷는 관람객을 위해 빔 화면 앞 멈춰 설 공간 확보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AEB4CF"/>
                </a:solidFill>
              </a:rPr>
              <a:t>센서 없이 시험: PC에서 sugung-roomb-demo.pages.dev (휴대폰 틀), 빔 화면 리허설은 /display?demo   ·   장비 수량과 공간 치수는 아직 확정 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06 · 진행 상황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지금 완성한 부분과 남은 작업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10048" cy="4434840"/>
          </a:xfrm>
          <a:prstGeom prst="roundRect">
            <a:avLst>
              <a:gd name="adj" fmla="val 2474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33008" y="1645920"/>
            <a:ext cx="5410048" cy="4434840"/>
          </a:xfrm>
          <a:prstGeom prst="roundRect">
            <a:avLst>
              <a:gd name="adj" fmla="val 2474"/>
            </a:avLst>
          </a:prstGeom>
          <a:solidFill>
            <a:srgbClr val="1F2A4D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6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완성 · 운영 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614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휴대폰 체험 전 과정 (색 고르기부터 이미지 저장까지)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빔 화면: 초롱 떠오름, 7칸 배치, 먼 하늘로 물러나기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직원 화면: 방 A 기록 입력·QR, 결과 보기·CSV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일상 돌보기 꼬리표 15가지와 항목별 토끼 대사·해볼 일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한국어·영어, 휴대폰 다크 모드 대응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시연용 사이트 (PC 휴대폰 틀, 서버 없이 동작)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507328" y="1828800"/>
            <a:ext cx="486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남은 작업 · 요청할 지원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07328" y="2377440"/>
            <a:ext cx="48614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여러 휴대폰 동시 체험 시험 (5명 이상, 현장 와이파이)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실제 빔프로젝터로 화면·밝기 맞추기 (빔·PC·차광)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방 A 출구 QR(A4) 배포 동선 확인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빔 화면 배경 그림 출처·이용 조건 확인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행사 전 직원 PIN 변경, 배포 권한 정리</a:t>
            </a:r>
            <a:endParaRPr lang="en-US" sz="1550" dirty="0"/>
          </a:p>
          <a:p>
            <a:pPr eaLnBrk="0" marL="203200" indent="-203200">
              <a:spcAft>
                <a:spcPts val="700"/>
              </a:spcAft>
              <a:buSzPct val="100000"/>
              <a:buChar char="•"/>
            </a:pPr>
            <a:r>
              <a:rPr lang="en-US" sz="1550" dirty="0">
                <a:solidFill>
                  <a:srgbClr val="F3E6CC"/>
                </a:solidFill>
              </a:rPr>
              <a:t>담당자 · 완료일: [이름] / [날짜]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spc="200" kern="0" dirty="0">
                <a:solidFill>
                  <a:srgbClr val="B8975A"/>
                </a:solidFill>
              </a:rPr>
              <a:t>07 · 02_작품코딩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3200" b="1" dirty="0">
                <a:solidFill>
                  <a:srgbClr val="F3E6CC"/>
                </a:solidFill>
              </a:rPr>
              <a:t>코딩 파일과 실행 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18213F"/>
          </a:solidFill>
          <a:ln w="9525">
            <a:solidFill>
              <a:srgbClr val="3A43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02_작품코딩/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README.md   실행 안내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package.json · package-lock.json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.env.example   비밀값 이름만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make-demo.mjs   시연용 사이트 만들기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demo-wrapper/   PC용 휴대폰 틀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main/   작품 본체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 index.html   휴대폰 체험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 display.html   빔 화면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 staff.html   직원 화면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 _worker.js   서버</a:t>
            </a:r>
            <a:endParaRPr lang="en-US" sz="1450" dirty="0"/>
          </a:p>
          <a:p>
            <a:pPr eaLnBrk="0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vendor/   three.js 등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9164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내 컴퓨터에서 실행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103120"/>
            <a:ext cx="53336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E6CC"/>
                </a:solidFill>
              </a:rPr>
              <a:t>Node.js 20 이상 설치 후 02_작품코딩 폴더에서</a:t>
            </a:r>
            <a:endParaRPr lang="en-US" sz="140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E6CC"/>
                </a:solidFill>
              </a:rPr>
              <a:t>npm install</a:t>
            </a:r>
            <a:endParaRPr lang="en-US" sz="140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E6CC"/>
                </a:solidFill>
              </a:rPr>
              <a:t>npm run dev</a:t>
            </a:r>
            <a:endParaRPr lang="en-US" sz="140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E6CC"/>
                </a:solidFill>
              </a:rPr>
              <a:t>휴대폰  localhost:8788/?id=0417</a:t>
            </a:r>
            <a:endParaRPr lang="en-US" sz="1400" dirty="0"/>
          </a:p>
          <a:p>
            <a:pPr eaLnBrk="0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E6CC"/>
                </a:solidFill>
              </a:rPr>
              <a:t>빔 화면  localhost:8788/display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61188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800" b="1" dirty="0">
                <a:solidFill>
                  <a:srgbClr val="E8C98A"/>
                </a:solidFill>
              </a:rPr>
              <a:t>설치 없이 바로 보기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023360"/>
            <a:ext cx="5333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400" u="sng" dirty="0">
                <a:solidFill>
                  <a:srgbClr val="E8C98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sugung-roomb.pages.dev/?id=0417</a:t>
            </a:r>
            <a:endParaRPr lang="en-US" sz="1400" dirty="0"/>
          </a:p>
          <a:p>
            <a:pPr eaLnBrk="0" indent="0" marL="0">
              <a:buNone/>
            </a:pPr>
            <a:r>
              <a:rPr lang="en-US" sz="1400" u="sng" dirty="0">
                <a:solidFill>
                  <a:srgbClr val="E8C98A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sugung-roomb.pages.dev/display</a:t>
            </a:r>
            <a:endParaRPr lang="en-US" sz="1400" dirty="0"/>
          </a:p>
          <a:p>
            <a:pPr eaLnBrk="0" indent="0" marL="0">
              <a:buNone/>
            </a:pPr>
            <a:r>
              <a:rPr lang="en-US" sz="1400" u="sng" dirty="0">
                <a:solidFill>
                  <a:srgbClr val="E8C98A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sugung-roomb-demo.pages.dev  (PC 시연용)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5166360"/>
            <a:ext cx="5333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AEB4CF"/>
                </a:solidFill>
              </a:rPr>
              <a:t>순수 HTML·CSS·JavaScript (three.js r160), Cloudflare Pages + KV</a:t>
            </a:r>
            <a:endParaRPr lang="en-US" sz="1200" dirty="0"/>
          </a:p>
          <a:p>
            <a:pPr eaLnBrk="0" indent="0" marL="0">
              <a:buNone/>
            </a:pPr>
            <a:r>
              <a:rPr lang="en-US" sz="1200" dirty="0">
                <a:solidFill>
                  <a:srgbClr val="AEB4CF"/>
                </a:solidFill>
              </a:rPr>
              <a:t>실제 관람객 기록·API 키·PIN은 넣지 않았습니다.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CF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수궁야행 밤바다">
  <a:themeElements>
    <a:clrScheme name="수궁야행 밤바다">
      <a:dk1>
        <a:srgbClr val="0E1530"/>
      </a:dk1>
      <a:lt1>
        <a:srgbClr val="FFFFFF"/>
      </a:lt1>
      <a:dk2>
        <a:srgbClr val="161E40"/>
      </a:dk2>
      <a:lt2>
        <a:srgbClr val="F3E6CC"/>
      </a:lt2>
      <a:accent1>
        <a:srgbClr val="E8C98A"/>
      </a:accent1>
      <a:accent2>
        <a:srgbClr val="D98BB5"/>
      </a:accent2>
      <a:accent3>
        <a:srgbClr val="8E6FE0"/>
      </a:accent3>
      <a:accent4>
        <a:srgbClr val="5FA8D3"/>
      </a:accent4>
      <a:accent5>
        <a:srgbClr val="2F7D6D"/>
      </a:accent5>
      <a:accent6>
        <a:srgbClr val="B9A7F0"/>
      </a:accent6>
      <a:hlink>
        <a:srgbClr val="E8C98A"/>
      </a:hlink>
      <a:folHlink>
        <a:srgbClr val="D9AE68"/>
      </a:folHlink>
    </a:clrScheme>
    <a:fontScheme name="수궁야행 밤바다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4조 청사초롱, 꿈을 담다 · 작품 설명</dc:title>
  <dc:subject>PptxGenJS Presentation</dc:subject>
  <dc:creator>수궁야행 4조</dc:creator>
  <cp:lastModifiedBy>수궁야행 4조</cp:lastModifiedBy>
  <cp:revision>1</cp:revision>
  <dcterms:created xsi:type="dcterms:W3CDTF">2026-10-20T05:03:33Z</dcterms:created>
  <dcterms:modified xsi:type="dcterms:W3CDTF">2026-10-20T05:03:33Z</dcterms:modified>
</cp:coreProperties>
</file>